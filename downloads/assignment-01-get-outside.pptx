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jpe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 name="Picture 1" descr="_student_1_4747dd75ad8069c66115c6a68aa30f72.jpg"/>
          <p:cNvPicPr>
            <a:picLocks noChangeAspect="1"/>
          </p:cNvPicPr>
          <p:nvPr/>
        </p:nvPicPr>
        <p:blipFill>
          <a:blip r:embed="rId1"/>
          <a:stretch>
            <a:fillRect/>
          </a:stretch>
        </p:blipFill>
        <p:spPr>
          <a:xfrm>
            <a:off x="6903720" y="0"/>
            <a:ext cx="5285232" cy="6858000"/>
          </a:xfrm>
          <a:prstGeom prst="rect">
            <a:avLst/>
          </a:prstGeom>
        </p:spPr>
      </p:pic>
      <p:sp>
        <p:nvSpPr>
          <p:cNvPr id="3" name="TextBox 2"/>
          <p:cNvSpPr txBox="1"/>
          <p:nvPr/>
        </p:nvSpPr>
        <p:spPr>
          <a:xfrm>
            <a:off x="685800" y="658368"/>
            <a:ext cx="4389120" cy="320040"/>
          </a:xfrm>
          <a:prstGeom prst="rect">
            <a:avLst/>
          </a:prstGeom>
          <a:noFill/>
        </p:spPr>
        <p:txBody>
          <a:bodyPr wrap="square">
            <a:spAutoFit/>
          </a:bodyPr>
          <a:lstStyle/>
          <a:p>
            <a:pPr algn="l"/>
            <a:r>
              <a:rPr sz="1100" b="1">
                <a:solidFill>
                  <a:srgbClr val="2F5748"/>
                </a:solidFill>
                <a:latin typeface="Aptos"/>
              </a:rPr>
              <a:t>ECON 238 — GET OUTSIDE</a:t>
            </a:r>
            <a:endParaRPr sz="1100" b="1">
              <a:solidFill>
                <a:srgbClr val="2F5748"/>
              </a:solidFill>
              <a:latin typeface="Aptos"/>
            </a:endParaRPr>
          </a:p>
        </p:txBody>
      </p:sp>
      <p:sp>
        <p:nvSpPr>
          <p:cNvPr id="4" name="TextBox 3"/>
          <p:cNvSpPr txBox="1"/>
          <p:nvPr/>
        </p:nvSpPr>
        <p:spPr>
          <a:xfrm>
            <a:off x="685800" y="1325880"/>
            <a:ext cx="5623560" cy="1234440"/>
          </a:xfrm>
          <a:prstGeom prst="rect">
            <a:avLst/>
          </a:prstGeom>
          <a:noFill/>
        </p:spPr>
        <p:txBody>
          <a:bodyPr wrap="square">
            <a:spAutoFit/>
          </a:bodyPr>
          <a:lstStyle/>
          <a:p>
            <a:pPr algn="l"/>
            <a:r>
              <a:rPr sz="3400" b="1">
                <a:solidFill>
                  <a:srgbClr val="191919"/>
                </a:solidFill>
                <a:latin typeface="Aptos"/>
              </a:rPr>
              <a:t>A Short Walk Around</a:t>
            </a:r>
            <a:br>
              <a:rPr sz="3400" b="1">
                <a:solidFill>
                  <a:srgbClr val="191919"/>
                </a:solidFill>
                <a:latin typeface="Aptos"/>
              </a:rPr>
            </a:br>
            <a:r>
              <a:rPr sz="3400" b="1">
                <a:solidFill>
                  <a:srgbClr val="191919"/>
                </a:solidFill>
                <a:latin typeface="Aptos"/>
              </a:rPr>
              <a:t>Innovation Square</a:t>
            </a:r>
            <a:endParaRPr sz="3400" b="1">
              <a:solidFill>
                <a:srgbClr val="191919"/>
              </a:solidFill>
              <a:latin typeface="Aptos"/>
            </a:endParaRPr>
          </a:p>
        </p:txBody>
      </p:sp>
      <p:sp>
        <p:nvSpPr>
          <p:cNvPr id="5" name="TextBox 4"/>
          <p:cNvSpPr txBox="1"/>
          <p:nvPr/>
        </p:nvSpPr>
        <p:spPr>
          <a:xfrm>
            <a:off x="713232" y="2761488"/>
            <a:ext cx="5349240" cy="658368"/>
          </a:xfrm>
          <a:prstGeom prst="rect">
            <a:avLst/>
          </a:prstGeom>
          <a:noFill/>
        </p:spPr>
        <p:txBody>
          <a:bodyPr wrap="square">
            <a:spAutoFit/>
          </a:bodyPr>
          <a:lstStyle/>
          <a:p>
            <a:pPr algn="l"/>
            <a:r>
              <a:rPr sz="1900" b="0">
                <a:solidFill>
                  <a:srgbClr val="5C5C5C"/>
                </a:solidFill>
                <a:latin typeface="Aptos"/>
              </a:rPr>
              <a:t>Noise, quiet, and the tradeoffs of an active downtown</a:t>
            </a:r>
            <a:endParaRPr sz="1900" b="0">
              <a:solidFill>
                <a:srgbClr val="5C5C5C"/>
              </a:solidFill>
              <a:latin typeface="Aptos"/>
            </a:endParaRPr>
          </a:p>
        </p:txBody>
      </p:sp>
      <p:sp>
        <p:nvSpPr>
          <p:cNvPr id="6" name="TextBox 5"/>
          <p:cNvSpPr txBox="1"/>
          <p:nvPr/>
        </p:nvSpPr>
        <p:spPr>
          <a:xfrm>
            <a:off x="713232" y="5440680"/>
            <a:ext cx="2377440" cy="291465"/>
          </a:xfrm>
          <a:prstGeom prst="rect">
            <a:avLst/>
          </a:prstGeom>
          <a:noFill/>
        </p:spPr>
        <p:txBody>
          <a:bodyPr wrap="square">
            <a:spAutoFit/>
          </a:bodyPr>
          <a:lstStyle/>
          <a:p>
            <a:pPr algn="l"/>
            <a:r>
              <a:rPr sz="1300" b="0">
                <a:solidFill>
                  <a:srgbClr val="5C5C5C"/>
                </a:solidFill>
                <a:latin typeface="Aptos"/>
              </a:rPr>
              <a:t>Bingkun Ye</a:t>
            </a:r>
            <a:endParaRPr sz="1300" b="0">
              <a:solidFill>
                <a:srgbClr val="5C5C5C"/>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11480"/>
            <a:ext cx="10698480" cy="566928"/>
          </a:xfrm>
          <a:prstGeom prst="rect">
            <a:avLst/>
          </a:prstGeom>
          <a:noFill/>
        </p:spPr>
        <p:txBody>
          <a:bodyPr wrap="square">
            <a:spAutoFit/>
          </a:bodyPr>
          <a:lstStyle/>
          <a:p>
            <a:pPr algn="l"/>
            <a:r>
              <a:rPr sz="2700" b="1">
                <a:solidFill>
                  <a:srgbClr val="191919"/>
                </a:solidFill>
                <a:latin typeface="Aptos"/>
              </a:rPr>
              <a:t>What I noticed</a:t>
            </a:r>
            <a:endParaRPr sz="2700" b="1">
              <a:solidFill>
                <a:srgbClr val="191919"/>
              </a:solidFill>
              <a:latin typeface="Aptos"/>
            </a:endParaRPr>
          </a:p>
        </p:txBody>
      </p:sp>
      <p:sp>
        <p:nvSpPr>
          <p:cNvPr id="3" name="Rectangle 2"/>
          <p:cNvSpPr/>
          <p:nvPr/>
        </p:nvSpPr>
        <p:spPr>
          <a:xfrm>
            <a:off x="640080" y="1078992"/>
            <a:ext cx="10927080" cy="32004"/>
          </a:xfrm>
          <a:prstGeom prst="rect">
            <a:avLst/>
          </a:prstGeom>
          <a:solidFill>
            <a:srgbClr val="2F5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76656" y="1188720"/>
            <a:ext cx="10241280" cy="384048"/>
          </a:xfrm>
          <a:prstGeom prst="rect">
            <a:avLst/>
          </a:prstGeom>
          <a:noFill/>
        </p:spPr>
        <p:txBody>
          <a:bodyPr wrap="square">
            <a:spAutoFit/>
          </a:bodyPr>
          <a:lstStyle/>
          <a:p>
            <a:pPr algn="l"/>
            <a:r>
              <a:rPr sz="1300" b="0">
                <a:solidFill>
                  <a:srgbClr val="5C5C5C"/>
                </a:solidFill>
                <a:latin typeface="Aptos"/>
              </a:rPr>
              <a:t>The spaces were close together, but they were built for very different uses.</a:t>
            </a:r>
            <a:endParaRPr sz="1300" b="0">
              <a:solidFill>
                <a:srgbClr val="5C5C5C"/>
              </a:solidFill>
              <a:latin typeface="Aptos"/>
            </a:endParaRPr>
          </a:p>
        </p:txBody>
      </p:sp>
      <p:pic>
        <p:nvPicPr>
          <p:cNvPr id="5" name="Picture 4" descr="_student_2_3d9714be2758194fc7855847747f8f64.jpg"/>
          <p:cNvPicPr>
            <a:picLocks noChangeAspect="1"/>
          </p:cNvPicPr>
          <p:nvPr/>
        </p:nvPicPr>
        <p:blipFill>
          <a:blip r:embed="rId1"/>
          <a:stretch>
            <a:fillRect/>
          </a:stretch>
        </p:blipFill>
        <p:spPr>
          <a:xfrm>
            <a:off x="685800" y="1691640"/>
            <a:ext cx="5166360" cy="3337560"/>
          </a:xfrm>
          <a:prstGeom prst="rect">
            <a:avLst/>
          </a:prstGeom>
        </p:spPr>
      </p:pic>
      <p:pic>
        <p:nvPicPr>
          <p:cNvPr id="6" name="Picture 5" descr="_student_2_1f7c964c533d656dd4941a04f23d51ee.jpg"/>
          <p:cNvPicPr>
            <a:picLocks noChangeAspect="1"/>
          </p:cNvPicPr>
          <p:nvPr/>
        </p:nvPicPr>
        <p:blipFill>
          <a:blip r:embed="rId2"/>
          <a:stretch>
            <a:fillRect/>
          </a:stretch>
        </p:blipFill>
        <p:spPr>
          <a:xfrm>
            <a:off x="6355080" y="1691640"/>
            <a:ext cx="5166360" cy="3337560"/>
          </a:xfrm>
          <a:prstGeom prst="rect">
            <a:avLst/>
          </a:prstGeom>
        </p:spPr>
      </p:pic>
      <p:sp>
        <p:nvSpPr>
          <p:cNvPr id="7" name="TextBox 6"/>
          <p:cNvSpPr txBox="1"/>
          <p:nvPr/>
        </p:nvSpPr>
        <p:spPr>
          <a:xfrm>
            <a:off x="749808" y="5138928"/>
            <a:ext cx="4937760" cy="384048"/>
          </a:xfrm>
          <a:prstGeom prst="rect">
            <a:avLst/>
          </a:prstGeom>
          <a:noFill/>
        </p:spPr>
        <p:txBody>
          <a:bodyPr wrap="square">
            <a:spAutoFit/>
          </a:bodyPr>
          <a:lstStyle/>
          <a:p>
            <a:pPr algn="l"/>
            <a:r>
              <a:rPr sz="1400" b="1">
                <a:solidFill>
                  <a:srgbClr val="191919"/>
                </a:solidFill>
                <a:latin typeface="Aptos"/>
              </a:rPr>
              <a:t>Broad / Chestnut: movement, cars, signals, road space</a:t>
            </a:r>
            <a:endParaRPr sz="1400" b="1">
              <a:solidFill>
                <a:srgbClr val="191919"/>
              </a:solidFill>
              <a:latin typeface="Aptos"/>
            </a:endParaRPr>
          </a:p>
        </p:txBody>
      </p:sp>
      <p:sp>
        <p:nvSpPr>
          <p:cNvPr id="8" name="TextBox 7"/>
          <p:cNvSpPr txBox="1"/>
          <p:nvPr/>
        </p:nvSpPr>
        <p:spPr>
          <a:xfrm>
            <a:off x="6419088" y="5138928"/>
            <a:ext cx="4846320" cy="384048"/>
          </a:xfrm>
          <a:prstGeom prst="rect">
            <a:avLst/>
          </a:prstGeom>
          <a:noFill/>
        </p:spPr>
        <p:txBody>
          <a:bodyPr wrap="square">
            <a:spAutoFit/>
          </a:bodyPr>
          <a:lstStyle/>
          <a:p>
            <a:pPr algn="l"/>
            <a:r>
              <a:rPr sz="1400" b="1">
                <a:solidFill>
                  <a:srgbClr val="191919"/>
                </a:solidFill>
                <a:latin typeface="Aptos"/>
              </a:rPr>
              <a:t>Nearby plaza: walking, sitting, trees, less direct traffic</a:t>
            </a:r>
            <a:endParaRPr sz="1400" b="1">
              <a:solidFill>
                <a:srgbClr val="191919"/>
              </a:solidFill>
              <a:latin typeface="Aptos"/>
            </a:endParaRPr>
          </a:p>
        </p:txBody>
      </p:sp>
      <p:sp>
        <p:nvSpPr>
          <p:cNvPr id="9" name="TextBox 8"/>
          <p:cNvSpPr txBox="1"/>
          <p:nvPr/>
        </p:nvSpPr>
        <p:spPr>
          <a:xfrm>
            <a:off x="749808" y="5742432"/>
            <a:ext cx="10515600" cy="621792"/>
          </a:xfrm>
          <a:prstGeom prst="rect">
            <a:avLst/>
          </a:prstGeom>
          <a:noFill/>
        </p:spPr>
        <p:txBody>
          <a:bodyPr wrap="square">
            <a:spAutoFit/>
          </a:bodyPr>
          <a:lstStyle/>
          <a:p>
            <a:pPr algn="l"/>
            <a:r>
              <a:rPr sz="1700" b="0">
                <a:solidFill>
                  <a:srgbClr val="191919"/>
                </a:solidFill>
                <a:latin typeface="Aptos"/>
              </a:rPr>
              <a:t>That contrast made me think less about “getting rid of noise” and more about how downtown space is divided between different uses.</a:t>
            </a:r>
            <a:endParaRPr sz="1700" b="0">
              <a:solidFill>
                <a:srgbClr val="191919"/>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11480"/>
            <a:ext cx="10698480" cy="566928"/>
          </a:xfrm>
          <a:prstGeom prst="rect">
            <a:avLst/>
          </a:prstGeom>
          <a:noFill/>
        </p:spPr>
        <p:txBody>
          <a:bodyPr wrap="square">
            <a:spAutoFit/>
          </a:bodyPr>
          <a:lstStyle/>
          <a:p>
            <a:pPr algn="l"/>
            <a:r>
              <a:rPr sz="2700" b="1">
                <a:solidFill>
                  <a:srgbClr val="191919"/>
                </a:solidFill>
                <a:latin typeface="Aptos"/>
              </a:rPr>
              <a:t>Why this is an economics problem</a:t>
            </a:r>
            <a:endParaRPr sz="2700" b="1">
              <a:solidFill>
                <a:srgbClr val="191919"/>
              </a:solidFill>
              <a:latin typeface="Aptos"/>
            </a:endParaRPr>
          </a:p>
        </p:txBody>
      </p:sp>
      <p:sp>
        <p:nvSpPr>
          <p:cNvPr id="3" name="Rectangle 2"/>
          <p:cNvSpPr/>
          <p:nvPr/>
        </p:nvSpPr>
        <p:spPr>
          <a:xfrm>
            <a:off x="640080" y="1078992"/>
            <a:ext cx="10927080" cy="32004"/>
          </a:xfrm>
          <a:prstGeom prst="rect">
            <a:avLst/>
          </a:prstGeom>
          <a:solidFill>
            <a:srgbClr val="2F5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_student_3_1774149e1ea316692a89e685da2df27d.jpg"/>
          <p:cNvPicPr>
            <a:picLocks noChangeAspect="1"/>
          </p:cNvPicPr>
          <p:nvPr/>
        </p:nvPicPr>
        <p:blipFill>
          <a:blip r:embed="rId1"/>
          <a:stretch>
            <a:fillRect/>
          </a:stretch>
        </p:blipFill>
        <p:spPr>
          <a:xfrm>
            <a:off x="713232" y="1536192"/>
            <a:ext cx="4709160" cy="4343400"/>
          </a:xfrm>
          <a:prstGeom prst="rect">
            <a:avLst/>
          </a:prstGeom>
        </p:spPr>
      </p:pic>
      <p:sp>
        <p:nvSpPr>
          <p:cNvPr id="5" name="TextBox 4"/>
          <p:cNvSpPr txBox="1"/>
          <p:nvPr/>
        </p:nvSpPr>
        <p:spPr>
          <a:xfrm>
            <a:off x="5806440" y="1645920"/>
            <a:ext cx="5212080" cy="960120"/>
          </a:xfrm>
          <a:prstGeom prst="rect">
            <a:avLst/>
          </a:prstGeom>
          <a:noFill/>
        </p:spPr>
        <p:txBody>
          <a:bodyPr wrap="square">
            <a:spAutoFit/>
          </a:bodyPr>
          <a:lstStyle/>
          <a:p>
            <a:pPr algn="l"/>
            <a:r>
              <a:rPr sz="1900" b="0">
                <a:solidFill>
                  <a:srgbClr val="191919"/>
                </a:solidFill>
                <a:latin typeface="Aptos"/>
              </a:rPr>
              <a:t>Cars, parking, deliveries, and construction are not just sources of noise. They also make downtown easier to reach and easier to use.</a:t>
            </a:r>
            <a:endParaRPr sz="1900" b="0">
              <a:solidFill>
                <a:srgbClr val="191919"/>
              </a:solidFill>
              <a:latin typeface="Aptos"/>
            </a:endParaRPr>
          </a:p>
        </p:txBody>
      </p:sp>
      <p:sp>
        <p:nvSpPr>
          <p:cNvPr id="6" name="TextBox 5"/>
          <p:cNvSpPr txBox="1"/>
          <p:nvPr/>
        </p:nvSpPr>
        <p:spPr>
          <a:xfrm>
            <a:off x="5806440" y="2880360"/>
            <a:ext cx="5212080" cy="1078992"/>
          </a:xfrm>
          <a:prstGeom prst="rect">
            <a:avLst/>
          </a:prstGeom>
          <a:noFill/>
        </p:spPr>
        <p:txBody>
          <a:bodyPr wrap="square">
            <a:spAutoFit/>
          </a:bodyPr>
          <a:lstStyle/>
          <a:p>
            <a:pPr algn="l"/>
            <a:r>
              <a:rPr sz="1900" b="0">
                <a:solidFill>
                  <a:srgbClr val="191919"/>
                </a:solidFill>
                <a:latin typeface="Aptos"/>
              </a:rPr>
              <a:t>The externality appears because some of the noise cost can fall on people nearby who are not making the trip or receiving the same benefit.</a:t>
            </a:r>
            <a:endParaRPr sz="1900" b="0">
              <a:solidFill>
                <a:srgbClr val="191919"/>
              </a:solidFill>
              <a:latin typeface="Aptos"/>
            </a:endParaRPr>
          </a:p>
        </p:txBody>
      </p:sp>
      <p:sp>
        <p:nvSpPr>
          <p:cNvPr id="7" name="TextBox 6"/>
          <p:cNvSpPr txBox="1"/>
          <p:nvPr/>
        </p:nvSpPr>
        <p:spPr>
          <a:xfrm>
            <a:off x="5806440" y="4297680"/>
            <a:ext cx="5212080" cy="1325880"/>
          </a:xfrm>
          <a:prstGeom prst="rect">
            <a:avLst/>
          </a:prstGeom>
          <a:noFill/>
        </p:spPr>
        <p:txBody>
          <a:bodyPr wrap="square">
            <a:spAutoFit/>
          </a:bodyPr>
          <a:lstStyle/>
          <a:p>
            <a:pPr algn="l"/>
            <a:r>
              <a:rPr sz="1900" b="1">
                <a:solidFill>
                  <a:srgbClr val="2F5748"/>
                </a:solidFill>
                <a:latin typeface="Aptos"/>
              </a:rPr>
              <a:t>So the question is not simply whether noise is bad. It is who gets the benefit, who bears the cost, and whether those costs can be reduced without giving up too much of the activity.</a:t>
            </a:r>
            <a:endParaRPr sz="1900" b="1">
              <a:solidFill>
                <a:srgbClr val="2F5748"/>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11480"/>
            <a:ext cx="10698480" cy="566928"/>
          </a:xfrm>
          <a:prstGeom prst="rect">
            <a:avLst/>
          </a:prstGeom>
          <a:noFill/>
        </p:spPr>
        <p:txBody>
          <a:bodyPr wrap="square">
            <a:spAutoFit/>
          </a:bodyPr>
          <a:lstStyle/>
          <a:p>
            <a:pPr algn="l"/>
            <a:r>
              <a:rPr sz="2700" b="1">
                <a:solidFill>
                  <a:srgbClr val="191919"/>
                </a:solidFill>
                <a:latin typeface="Aptos"/>
              </a:rPr>
              <a:t>The tradeoff</a:t>
            </a:r>
            <a:endParaRPr sz="2700" b="1">
              <a:solidFill>
                <a:srgbClr val="191919"/>
              </a:solidFill>
              <a:latin typeface="Aptos"/>
            </a:endParaRPr>
          </a:p>
        </p:txBody>
      </p:sp>
      <p:sp>
        <p:nvSpPr>
          <p:cNvPr id="3" name="Rectangle 2"/>
          <p:cNvSpPr/>
          <p:nvPr/>
        </p:nvSpPr>
        <p:spPr>
          <a:xfrm>
            <a:off x="640080" y="1078992"/>
            <a:ext cx="10927080" cy="32004"/>
          </a:xfrm>
          <a:prstGeom prst="rect">
            <a:avLst/>
          </a:prstGeom>
          <a:solidFill>
            <a:srgbClr val="2F5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72768"/>
            <a:ext cx="4297680" cy="365760"/>
          </a:xfrm>
          <a:prstGeom prst="rect">
            <a:avLst/>
          </a:prstGeom>
          <a:noFill/>
        </p:spPr>
        <p:txBody>
          <a:bodyPr wrap="square">
            <a:spAutoFit/>
          </a:bodyPr>
          <a:lstStyle/>
          <a:p>
            <a:pPr algn="l"/>
            <a:r>
              <a:rPr sz="2000" b="1">
                <a:solidFill>
                  <a:srgbClr val="2F5748"/>
                </a:solidFill>
                <a:latin typeface="Aptos"/>
              </a:rPr>
              <a:t>If downtown becomes quieter</a:t>
            </a:r>
            <a:endParaRPr sz="2000" b="1">
              <a:solidFill>
                <a:srgbClr val="2F5748"/>
              </a:solidFill>
              <a:latin typeface="Aptos"/>
            </a:endParaRPr>
          </a:p>
        </p:txBody>
      </p:sp>
      <p:sp>
        <p:nvSpPr>
          <p:cNvPr id="5" name="TextBox 4"/>
          <p:cNvSpPr txBox="1"/>
          <p:nvPr/>
        </p:nvSpPr>
        <p:spPr>
          <a:xfrm>
            <a:off x="960120" y="2057400"/>
            <a:ext cx="4434840" cy="1691640"/>
          </a:xfrm>
          <a:prstGeom prst="rect">
            <a:avLst/>
          </a:prstGeom>
          <a:noFill/>
        </p:spPr>
        <p:txBody>
          <a:bodyPr wrap="square">
            <a:spAutoFit/>
          </a:bodyPr>
          <a:lstStyle/>
          <a:p>
            <a:pPr algn="l"/>
            <a:r>
              <a:rPr sz="1800" b="0">
                <a:solidFill>
                  <a:srgbClr val="191919"/>
                </a:solidFill>
                <a:latin typeface="Aptos"/>
              </a:rPr>
              <a:t>• outdoor spaces may feel more comfortable</a:t>
            </a:r>
            <a:br>
              <a:rPr sz="1800" b="0">
                <a:solidFill>
                  <a:srgbClr val="191919"/>
                </a:solidFill>
                <a:latin typeface="Aptos"/>
              </a:rPr>
            </a:br>
            <a:r>
              <a:rPr sz="1800" b="0">
                <a:solidFill>
                  <a:srgbClr val="191919"/>
                </a:solidFill>
                <a:latin typeface="Aptos"/>
              </a:rPr>
              <a:t>• nearby residents may face less disturbance</a:t>
            </a:r>
            <a:br>
              <a:rPr sz="1800" b="0">
                <a:solidFill>
                  <a:srgbClr val="191919"/>
                </a:solidFill>
                <a:latin typeface="Aptos"/>
              </a:rPr>
            </a:br>
            <a:r>
              <a:rPr sz="1800" b="0">
                <a:solidFill>
                  <a:srgbClr val="191919"/>
                </a:solidFill>
                <a:latin typeface="Aptos"/>
              </a:rPr>
              <a:t>• walking and sitting outside may become more attractive</a:t>
            </a:r>
            <a:endParaRPr sz="1800" b="0">
              <a:solidFill>
                <a:srgbClr val="191919"/>
              </a:solidFill>
              <a:latin typeface="Aptos"/>
            </a:endParaRPr>
          </a:p>
        </p:txBody>
      </p:sp>
      <p:sp>
        <p:nvSpPr>
          <p:cNvPr id="6" name="TextBox 5"/>
          <p:cNvSpPr txBox="1"/>
          <p:nvPr/>
        </p:nvSpPr>
        <p:spPr>
          <a:xfrm>
            <a:off x="6263640" y="1572768"/>
            <a:ext cx="4754880" cy="365760"/>
          </a:xfrm>
          <a:prstGeom prst="rect">
            <a:avLst/>
          </a:prstGeom>
          <a:noFill/>
        </p:spPr>
        <p:txBody>
          <a:bodyPr wrap="square">
            <a:spAutoFit/>
          </a:bodyPr>
          <a:lstStyle/>
          <a:p>
            <a:pPr algn="l"/>
            <a:r>
              <a:rPr sz="2000" b="1">
                <a:solidFill>
                  <a:srgbClr val="2F5748"/>
                </a:solidFill>
                <a:latin typeface="Aptos"/>
              </a:rPr>
              <a:t>But if that comes from removing activity</a:t>
            </a:r>
            <a:endParaRPr sz="2000" b="1">
              <a:solidFill>
                <a:srgbClr val="2F5748"/>
              </a:solidFill>
              <a:latin typeface="Aptos"/>
            </a:endParaRPr>
          </a:p>
        </p:txBody>
      </p:sp>
      <p:sp>
        <p:nvSpPr>
          <p:cNvPr id="7" name="TextBox 6"/>
          <p:cNvSpPr txBox="1"/>
          <p:nvPr/>
        </p:nvSpPr>
        <p:spPr>
          <a:xfrm>
            <a:off x="6355080" y="2267585"/>
            <a:ext cx="4572000" cy="1691640"/>
          </a:xfrm>
          <a:prstGeom prst="rect">
            <a:avLst/>
          </a:prstGeom>
          <a:noFill/>
        </p:spPr>
        <p:txBody>
          <a:bodyPr wrap="square">
            <a:spAutoFit/>
          </a:bodyPr>
          <a:lstStyle/>
          <a:p>
            <a:pPr algn="l"/>
            <a:r>
              <a:rPr sz="1800" b="0">
                <a:solidFill>
                  <a:srgbClr val="191919"/>
                </a:solidFill>
                <a:latin typeface="Aptos"/>
              </a:rPr>
              <a:t>• travel can become less convenient</a:t>
            </a:r>
            <a:br>
              <a:rPr sz="1800" b="0">
                <a:solidFill>
                  <a:srgbClr val="191919"/>
                </a:solidFill>
                <a:latin typeface="Aptos"/>
              </a:rPr>
            </a:br>
            <a:r>
              <a:rPr sz="1800" b="0">
                <a:solidFill>
                  <a:srgbClr val="191919"/>
                </a:solidFill>
                <a:latin typeface="Aptos"/>
              </a:rPr>
              <a:t>• deliveries and businesses may face higher costs</a:t>
            </a:r>
            <a:br>
              <a:rPr sz="1800" b="0">
                <a:solidFill>
                  <a:srgbClr val="191919"/>
                </a:solidFill>
                <a:latin typeface="Aptos"/>
              </a:rPr>
            </a:br>
            <a:r>
              <a:rPr sz="1800" b="0">
                <a:solidFill>
                  <a:srgbClr val="191919"/>
                </a:solidFill>
                <a:latin typeface="Aptos"/>
              </a:rPr>
              <a:t>• people may lose some access to the places they want to reach</a:t>
            </a:r>
            <a:endParaRPr sz="1800" b="0">
              <a:solidFill>
                <a:srgbClr val="191919"/>
              </a:solidFill>
              <a:latin typeface="Aptos"/>
            </a:endParaRPr>
          </a:p>
        </p:txBody>
      </p:sp>
      <p:sp>
        <p:nvSpPr>
          <p:cNvPr id="8" name="Rectangle 7"/>
          <p:cNvSpPr/>
          <p:nvPr/>
        </p:nvSpPr>
        <p:spPr>
          <a:xfrm>
            <a:off x="640080" y="4160520"/>
            <a:ext cx="10927080" cy="32004"/>
          </a:xfrm>
          <a:prstGeom prst="rect">
            <a:avLst/>
          </a:prstGeom>
          <a:solidFill>
            <a:srgbClr val="2F5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4526280"/>
            <a:ext cx="10058400" cy="1005840"/>
          </a:xfrm>
          <a:prstGeom prst="rect">
            <a:avLst/>
          </a:prstGeom>
          <a:noFill/>
        </p:spPr>
        <p:txBody>
          <a:bodyPr wrap="square">
            <a:spAutoFit/>
          </a:bodyPr>
          <a:lstStyle/>
          <a:p>
            <a:pPr algn="ctr"/>
            <a:r>
              <a:rPr sz="2300" b="1">
                <a:solidFill>
                  <a:srgbClr val="191919"/>
                </a:solidFill>
                <a:latin typeface="Aptos"/>
              </a:rPr>
              <a:t>The relevant margin is probably not “noise vs. silence.” It is how much quiet we want, where we want it, and what we are willing to give up to create it.</a:t>
            </a:r>
            <a:endParaRPr sz="2300" b="1">
              <a:solidFill>
                <a:srgbClr val="191919"/>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11480"/>
            <a:ext cx="10698480" cy="566928"/>
          </a:xfrm>
          <a:prstGeom prst="rect">
            <a:avLst/>
          </a:prstGeom>
          <a:noFill/>
        </p:spPr>
        <p:txBody>
          <a:bodyPr wrap="square">
            <a:spAutoFit/>
          </a:bodyPr>
          <a:lstStyle/>
          <a:p>
            <a:pPr algn="l"/>
            <a:r>
              <a:rPr sz="2700" b="1">
                <a:solidFill>
                  <a:srgbClr val="191919"/>
                </a:solidFill>
                <a:latin typeface="Aptos"/>
              </a:rPr>
              <a:t>My main takeaway</a:t>
            </a:r>
            <a:endParaRPr sz="2700" b="1">
              <a:solidFill>
                <a:srgbClr val="191919"/>
              </a:solidFill>
              <a:latin typeface="Aptos"/>
            </a:endParaRPr>
          </a:p>
        </p:txBody>
      </p:sp>
      <p:sp>
        <p:nvSpPr>
          <p:cNvPr id="3" name="Rectangle 2"/>
          <p:cNvSpPr/>
          <p:nvPr/>
        </p:nvSpPr>
        <p:spPr>
          <a:xfrm>
            <a:off x="640080" y="1078992"/>
            <a:ext cx="10927080" cy="32004"/>
          </a:xfrm>
          <a:prstGeom prst="rect">
            <a:avLst/>
          </a:prstGeom>
          <a:solidFill>
            <a:srgbClr val="2F5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_student_5_3d9714be2758194fc7855847747f8f64.jpg"/>
          <p:cNvPicPr>
            <a:picLocks noChangeAspect="1"/>
          </p:cNvPicPr>
          <p:nvPr/>
        </p:nvPicPr>
        <p:blipFill>
          <a:blip r:embed="rId1"/>
          <a:stretch>
            <a:fillRect/>
          </a:stretch>
        </p:blipFill>
        <p:spPr>
          <a:xfrm>
            <a:off x="676656" y="1517904"/>
            <a:ext cx="3493008" cy="3429000"/>
          </a:xfrm>
          <a:prstGeom prst="rect">
            <a:avLst/>
          </a:prstGeom>
        </p:spPr>
      </p:pic>
      <p:pic>
        <p:nvPicPr>
          <p:cNvPr id="5" name="Picture 4" descr="_student_5_1774149e1ea316692a89e685da2df27d.jpg"/>
          <p:cNvPicPr>
            <a:picLocks noChangeAspect="1"/>
          </p:cNvPicPr>
          <p:nvPr/>
        </p:nvPicPr>
        <p:blipFill>
          <a:blip r:embed="rId2"/>
          <a:stretch>
            <a:fillRect/>
          </a:stretch>
        </p:blipFill>
        <p:spPr>
          <a:xfrm>
            <a:off x="4352544" y="1517904"/>
            <a:ext cx="3493008" cy="3429000"/>
          </a:xfrm>
          <a:prstGeom prst="rect">
            <a:avLst/>
          </a:prstGeom>
        </p:spPr>
      </p:pic>
      <p:pic>
        <p:nvPicPr>
          <p:cNvPr id="6" name="Picture 5" descr="_student_5_1f7c964c533d656dd4941a04f23d51ee.jpg"/>
          <p:cNvPicPr>
            <a:picLocks noChangeAspect="1"/>
          </p:cNvPicPr>
          <p:nvPr/>
        </p:nvPicPr>
        <p:blipFill>
          <a:blip r:embed="rId3"/>
          <a:stretch>
            <a:fillRect/>
          </a:stretch>
        </p:blipFill>
        <p:spPr>
          <a:xfrm>
            <a:off x="8028431" y="1517904"/>
            <a:ext cx="3493008" cy="3429000"/>
          </a:xfrm>
          <a:prstGeom prst="rect">
            <a:avLst/>
          </a:prstGeom>
        </p:spPr>
      </p:pic>
      <p:sp>
        <p:nvSpPr>
          <p:cNvPr id="7" name="TextBox 6"/>
          <p:cNvSpPr txBox="1"/>
          <p:nvPr/>
        </p:nvSpPr>
        <p:spPr>
          <a:xfrm>
            <a:off x="868680" y="5166360"/>
            <a:ext cx="10424160" cy="713232"/>
          </a:xfrm>
          <a:prstGeom prst="rect">
            <a:avLst/>
          </a:prstGeom>
          <a:noFill/>
        </p:spPr>
        <p:txBody>
          <a:bodyPr wrap="square">
            <a:spAutoFit/>
          </a:bodyPr>
          <a:lstStyle/>
          <a:p>
            <a:pPr algn="l"/>
            <a:r>
              <a:rPr sz="1800" b="0">
                <a:solidFill>
                  <a:srgbClr val="191919"/>
                </a:solidFill>
                <a:latin typeface="Aptos"/>
              </a:rPr>
              <a:t>I do not think the interesting question is whether downtown should be quiet. Downtown is useful partly because people, roads, and businesses are concentrated there.</a:t>
            </a:r>
            <a:endParaRPr sz="1800" b="0">
              <a:solidFill>
                <a:srgbClr val="191919"/>
              </a:solidFill>
              <a:latin typeface="Aptos"/>
            </a:endParaRPr>
          </a:p>
        </p:txBody>
      </p:sp>
      <p:sp>
        <p:nvSpPr>
          <p:cNvPr id="8" name="TextBox 7"/>
          <p:cNvSpPr txBox="1"/>
          <p:nvPr/>
        </p:nvSpPr>
        <p:spPr>
          <a:xfrm>
            <a:off x="868680" y="5916168"/>
            <a:ext cx="10424160" cy="530352"/>
          </a:xfrm>
          <a:prstGeom prst="rect">
            <a:avLst/>
          </a:prstGeom>
          <a:noFill/>
        </p:spPr>
        <p:txBody>
          <a:bodyPr wrap="square">
            <a:spAutoFit/>
          </a:bodyPr>
          <a:lstStyle/>
          <a:p>
            <a:pPr algn="l"/>
            <a:r>
              <a:rPr sz="1900" b="1">
                <a:solidFill>
                  <a:srgbClr val="2F5748"/>
                </a:solidFill>
                <a:latin typeface="Aptos"/>
              </a:rPr>
              <a:t>What seems more interesting is whether quieter pedestrian space can exist close to noisy uses without requiring either side to disappear.</a:t>
            </a:r>
            <a:endParaRPr sz="1900" b="1">
              <a:solidFill>
                <a:srgbClr val="2F5748"/>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658368" y="411480"/>
            <a:ext cx="10698480" cy="566928"/>
          </a:xfrm>
          <a:prstGeom prst="rect">
            <a:avLst/>
          </a:prstGeom>
          <a:noFill/>
        </p:spPr>
        <p:txBody>
          <a:bodyPr wrap="square">
            <a:spAutoFit/>
          </a:bodyPr>
          <a:lstStyle/>
          <a:p>
            <a:pPr algn="l"/>
            <a:r>
              <a:rPr sz="2700" b="1">
                <a:solidFill>
                  <a:srgbClr val="191919"/>
                </a:solidFill>
                <a:latin typeface="Aptos"/>
              </a:rPr>
              <a:t>What I would want to know next</a:t>
            </a:r>
            <a:endParaRPr sz="2700" b="1">
              <a:solidFill>
                <a:srgbClr val="191919"/>
              </a:solidFill>
              <a:latin typeface="Aptos"/>
            </a:endParaRPr>
          </a:p>
        </p:txBody>
      </p:sp>
      <p:sp>
        <p:nvSpPr>
          <p:cNvPr id="3" name="Rectangle 2"/>
          <p:cNvSpPr/>
          <p:nvPr/>
        </p:nvSpPr>
        <p:spPr>
          <a:xfrm>
            <a:off x="640080" y="1078992"/>
            <a:ext cx="10927080" cy="32004"/>
          </a:xfrm>
          <a:prstGeom prst="rect">
            <a:avLst/>
          </a:prstGeom>
          <a:solidFill>
            <a:srgbClr val="2F57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554480"/>
            <a:ext cx="10332720" cy="841248"/>
          </a:xfrm>
          <a:prstGeom prst="rect">
            <a:avLst/>
          </a:prstGeom>
          <a:noFill/>
        </p:spPr>
        <p:txBody>
          <a:bodyPr wrap="square">
            <a:spAutoFit/>
          </a:bodyPr>
          <a:lstStyle/>
          <a:p>
            <a:pPr algn="l"/>
            <a:r>
              <a:rPr sz="1800" b="0">
                <a:solidFill>
                  <a:srgbClr val="191919"/>
                </a:solidFill>
                <a:latin typeface="Aptos"/>
              </a:rPr>
              <a:t>This walk was only a short observation, not a noise study. I did not measure decibels, property values, or how long people actually stay in each space.</a:t>
            </a:r>
            <a:endParaRPr sz="1800" b="0">
              <a:solidFill>
                <a:srgbClr val="191919"/>
              </a:solidFill>
              <a:latin typeface="Aptos"/>
            </a:endParaRPr>
          </a:p>
        </p:txBody>
      </p:sp>
      <p:sp>
        <p:nvSpPr>
          <p:cNvPr id="5" name="TextBox 4"/>
          <p:cNvSpPr txBox="1"/>
          <p:nvPr/>
        </p:nvSpPr>
        <p:spPr>
          <a:xfrm>
            <a:off x="868680" y="2606040"/>
            <a:ext cx="4846320" cy="384048"/>
          </a:xfrm>
          <a:prstGeom prst="rect">
            <a:avLst/>
          </a:prstGeom>
          <a:noFill/>
        </p:spPr>
        <p:txBody>
          <a:bodyPr wrap="square">
            <a:spAutoFit/>
          </a:bodyPr>
          <a:lstStyle/>
          <a:p>
            <a:pPr algn="l"/>
            <a:r>
              <a:rPr sz="1900" b="1">
                <a:solidFill>
                  <a:srgbClr val="2F5748"/>
                </a:solidFill>
                <a:latin typeface="Aptos"/>
              </a:rPr>
              <a:t>If I were taking this further, I would want to ask:</a:t>
            </a:r>
            <a:endParaRPr sz="1900" b="1">
              <a:solidFill>
                <a:srgbClr val="2F5748"/>
              </a:solidFill>
              <a:latin typeface="Aptos"/>
            </a:endParaRPr>
          </a:p>
        </p:txBody>
      </p:sp>
      <p:sp>
        <p:nvSpPr>
          <p:cNvPr id="6" name="TextBox 5"/>
          <p:cNvSpPr txBox="1"/>
          <p:nvPr/>
        </p:nvSpPr>
        <p:spPr>
          <a:xfrm>
            <a:off x="1051560" y="3291840"/>
            <a:ext cx="9921240" cy="2057400"/>
          </a:xfrm>
          <a:prstGeom prst="rect">
            <a:avLst/>
          </a:prstGeom>
          <a:noFill/>
        </p:spPr>
        <p:txBody>
          <a:bodyPr wrap="square">
            <a:spAutoFit/>
          </a:bodyPr>
          <a:lstStyle/>
          <a:p>
            <a:pPr algn="l"/>
            <a:r>
              <a:rPr sz="1800" b="0">
                <a:solidFill>
                  <a:srgbClr val="191919"/>
                </a:solidFill>
                <a:latin typeface="Aptos"/>
              </a:rPr>
              <a:t>• Do people spend more time in the quieter plaza than near the road?</a:t>
            </a:r>
            <a:br>
              <a:rPr sz="1800" b="0">
                <a:solidFill>
                  <a:srgbClr val="191919"/>
                </a:solidFill>
                <a:latin typeface="Aptos"/>
              </a:rPr>
            </a:br>
            <a:r>
              <a:rPr sz="1800" b="0">
                <a:solidFill>
                  <a:srgbClr val="191919"/>
                </a:solidFill>
                <a:latin typeface="Aptos"/>
              </a:rPr>
              <a:t>• Do rents or property values reflect traffic exposure?</a:t>
            </a:r>
            <a:br>
              <a:rPr sz="1800" b="0">
                <a:solidFill>
                  <a:srgbClr val="191919"/>
                </a:solidFill>
                <a:latin typeface="Aptos"/>
              </a:rPr>
            </a:br>
            <a:r>
              <a:rPr sz="1800" b="0">
                <a:solidFill>
                  <a:srgbClr val="191919"/>
                </a:solidFill>
                <a:latin typeface="Aptos"/>
              </a:rPr>
              <a:t>• Which design choices reduce spillover noise without reducing access?</a:t>
            </a:r>
            <a:br>
              <a:rPr sz="1800" b="0">
                <a:solidFill>
                  <a:srgbClr val="191919"/>
                </a:solidFill>
                <a:latin typeface="Aptos"/>
              </a:rPr>
            </a:br>
            <a:r>
              <a:rPr sz="1800" b="0">
                <a:solidFill>
                  <a:srgbClr val="191919"/>
                </a:solidFill>
                <a:latin typeface="Aptos"/>
              </a:rPr>
              <a:t>• How much would residents or businesses actually be willing to pay for those changes?</a:t>
            </a:r>
            <a:endParaRPr sz="1800" b="0">
              <a:solidFill>
                <a:srgbClr val="191919"/>
              </a:solidFill>
              <a:latin typeface="Aptos"/>
            </a:endParaRPr>
          </a:p>
        </p:txBody>
      </p:sp>
      <p:sp>
        <p:nvSpPr>
          <p:cNvPr id="7" name="TextBox 6"/>
          <p:cNvSpPr txBox="1"/>
          <p:nvPr/>
        </p:nvSpPr>
        <p:spPr>
          <a:xfrm>
            <a:off x="868680" y="5650992"/>
            <a:ext cx="10332720" cy="658368"/>
          </a:xfrm>
          <a:prstGeom prst="rect">
            <a:avLst/>
          </a:prstGeom>
          <a:noFill/>
        </p:spPr>
        <p:txBody>
          <a:bodyPr wrap="square">
            <a:spAutoFit/>
          </a:bodyPr>
          <a:lstStyle/>
          <a:p>
            <a:pPr algn="l"/>
            <a:r>
              <a:rPr sz="1800" b="1">
                <a:solidFill>
                  <a:srgbClr val="191919"/>
                </a:solidFill>
                <a:latin typeface="Aptos"/>
              </a:rPr>
              <a:t>For me, the useful part of the walk was that it changed the problem from “noise is bad” into a question about tradeoffs, incidence, and the way urban space is organized.</a:t>
            </a:r>
            <a:endParaRPr sz="1800" b="1">
              <a:solidFill>
                <a:srgbClr val="191919"/>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2463</Words>
  <Application>WPS 演示</Application>
  <PresentationFormat>On-screen Show (4:3)</PresentationFormat>
  <Paragraphs>54</Paragraphs>
  <Slides>6</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6</vt:i4>
      </vt:variant>
    </vt:vector>
  </HeadingPairs>
  <TitlesOfParts>
    <vt:vector size="16" baseType="lpstr">
      <vt:lpstr>Arial</vt:lpstr>
      <vt:lpstr>宋体</vt:lpstr>
      <vt:lpstr>Wingdings</vt:lpstr>
      <vt:lpstr>Arial</vt:lpstr>
      <vt:lpstr>Aptos</vt:lpstr>
      <vt:lpstr>Segoe UI</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叶某</cp:lastModifiedBy>
  <cp:revision>4</cp:revision>
  <dcterms:created xsi:type="dcterms:W3CDTF">2013-01-27T09:14:00Z</dcterms:created>
  <dcterms:modified xsi:type="dcterms:W3CDTF">2026-09-13T21:19:27Z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C229FA33DAB748E98F181F5F42254AF5_13</vt:lpwstr>
  </property>
  <property fmtid="{D5CDD505-2E9C-101B-9397-08002B2CF9AE}" pid="3" name="KSOProductBuildVer">
    <vt:lpwstr>2052-12.1.0.24657</vt:lpwstr>
  </property>
</Properties>
</file>